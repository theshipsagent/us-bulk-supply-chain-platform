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provides the 30-second elevator pitch. Emphasize the market size, structural supply gap, and SESCO's differentiated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tell the quantitative story. Emphasize the white cement premium and tariff advantage as key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Florida's import dependency is structural, not cyclical. Environmental regulations prevent new capacity while population drives demand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tariff advantage is structurally embedded in trade policy, providing durable competitive moat. At current pricing, represents 13-30% cost structure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TAMPA BAY CEMENT MARKET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Strategic Market Entry for SESCO Cement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January 2026 | Strategic Planning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Summary: A Compelling 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Florida: 2nd largest cement consuming state (14M MT/year)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Tampa Bay: 75% of Florida cement imports (6.8M MT annually)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Port Redwing: Strategic terminal positioning with 150K MT capacity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Market Fundamentals: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Florida supply-demand gap: 6.5M MT annually (imports required)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Import share growing: 22% of US demand and increasing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Tampa Bay as primary Florida import gateway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SESCO Competitive Advantages: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Favorable tariff position: 10% vs. 25-46% for competitors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White cement specialty: 2-3x price premium, limited competition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Port Redwing infrastructure: Scale and geographic positioning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The Opportunity - WHY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Why Florida? Why Tampa Bay? Why Now?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SESCO's Competitive Advantages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Market Analysis - WHAT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US &amp; Florida Cement Market Overview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Competitive Landscape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White Cement Opportunity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Go-To-Market Strategy - HOW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Customer Targeting &amp; Product Strategy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Implementation Roadmap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Financial Projections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Risk Assessment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Recommendation &amp;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Opportunity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Total Addressable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Tampa Bay: 4.0-5.5M MT/year | Florida: 14M MT/year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SESCO Year 3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196,000 MT (3-5% Tampa Bay market share)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3 Revenue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$23.8 million ($13.5M gray + $10.3M white cement)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White Cement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2-3x gray cement pricing ($225/MT vs $90/MT)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79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1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Cost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5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$12-27/MT tariff advantage vs. major competitors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Thesis: Why Proceed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Structural Market Opportunity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Florida's 46% import dependency is durable (no new domestic capacity)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Growing at 2-3% annually with population growth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Favorable Competitive Position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Tariff advantage creates $12-27/MT cost edge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White cement specialty with limited competition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Port Redwing infrastructure as competitive moat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Achievable Financial Returns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Year 3 EBITDA breakeven, Years 4+ profitable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White cement drives disproportionate margin contribution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Measured growth approach minimizes execution risk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Strategic Fit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Leverages SESCO's import expertise and supplier relationships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Platform for potential Caribbean expansion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OPPORTUNITY</a:t>
            </a:r>
          </a:p>
          <a:p>
            <a:r>
              <a:t>WHY Florida • WHY Tampa Bay • WHY 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Florida?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74903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Market Size &amp; Growth:</a:t>
            </a:r>
          </a:p>
          <a:p>
            <a:pPr>
              <a:spcAft>
                <a:spcPts val="1000"/>
              </a:spcAft>
              <a:defRPr sz="1600"/>
            </a:pPr>
            <a:r>
              <a:t>• 2nd largest cement market in US</a:t>
            </a:r>
          </a:p>
          <a:p>
            <a:pPr>
              <a:spcAft>
                <a:spcPts val="1000"/>
              </a:spcAft>
              <a:defRPr sz="1600"/>
            </a:pPr>
            <a:r>
              <a:t>• 14M MT annual consumption</a:t>
            </a:r>
          </a:p>
          <a:p>
            <a:pPr>
              <a:spcAft>
                <a:spcPts val="1000"/>
              </a:spcAft>
              <a:defRPr sz="1600"/>
            </a:pPr>
            <a:r>
              <a:t>• 2-3% annual growth (vs 1% US avg)</a:t>
            </a:r>
          </a:p>
          <a:p>
            <a:pPr>
              <a:spcAft>
                <a:spcPts val="1000"/>
              </a:spcAft>
              <a:defRPr sz="1600"/>
            </a:pPr>
            <a:r>
              <a:t>• Driven by population growth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Structural Supply Gap:</a:t>
            </a:r>
          </a:p>
          <a:p>
            <a:pPr>
              <a:spcAft>
                <a:spcPts val="1000"/>
              </a:spcAft>
              <a:defRPr sz="1600"/>
            </a:pPr>
            <a:r>
              <a:t>• 10.4M MT domestic capacity</a:t>
            </a:r>
          </a:p>
          <a:p>
            <a:pPr>
              <a:spcAft>
                <a:spcPts val="1000"/>
              </a:spcAft>
              <a:defRPr sz="1600"/>
            </a:pPr>
            <a:r>
              <a:t>• 14M MT consumption</a:t>
            </a:r>
          </a:p>
          <a:p>
            <a:pPr>
              <a:spcAft>
                <a:spcPts val="1000"/>
              </a:spcAft>
              <a:defRPr sz="1600"/>
            </a:pPr>
            <a:r>
              <a:t>• 6.5M MT must be imported</a:t>
            </a:r>
          </a:p>
          <a:p>
            <a:pPr>
              <a:spcAft>
                <a:spcPts val="1000"/>
              </a:spcAft>
              <a:defRPr sz="1600"/>
            </a:pPr>
            <a:r>
              <a:t>• 46% import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74903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Why Imports Required:</a:t>
            </a:r>
          </a:p>
          <a:p>
            <a:pPr>
              <a:spcAft>
                <a:spcPts val="1000"/>
              </a:spcAft>
              <a:defRPr sz="1600"/>
            </a:pPr>
            <a:r>
              <a:t>• No new plant development (environmental)</a:t>
            </a:r>
          </a:p>
          <a:p>
            <a:pPr>
              <a:spcAft>
                <a:spcPts val="1000"/>
              </a:spcAft>
              <a:defRPr sz="1600"/>
            </a:pPr>
            <a:r>
              <a:t>• Existing plants capacity-constrained</a:t>
            </a:r>
          </a:p>
          <a:p>
            <a:pPr>
              <a:spcAft>
                <a:spcPts val="1000"/>
              </a:spcAft>
              <a:defRPr sz="1600"/>
            </a:pPr>
            <a:r>
              <a:t>• Utilization at 72% reflects optimization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Market Characteristics:</a:t>
            </a:r>
          </a:p>
          <a:p>
            <a:pPr>
              <a:spcAft>
                <a:spcPts val="1000"/>
              </a:spcAft>
              <a:defRPr sz="1600"/>
            </a:pPr>
            <a:r>
              <a:t>• Hurricane building codes drive demand</a:t>
            </a:r>
          </a:p>
          <a:p>
            <a:pPr>
              <a:spcAft>
                <a:spcPts val="1000"/>
              </a:spcAft>
              <a:defRPr sz="1600"/>
            </a:pPr>
            <a:r>
              <a:t>• Masonry construction prevalent</a:t>
            </a:r>
          </a:p>
          <a:p>
            <a:pPr>
              <a:spcAft>
                <a:spcPts val="1000"/>
              </a:spcAft>
              <a:defRPr sz="1600"/>
            </a:pPr>
            <a:r>
              <a:t>• Tourism/hospitality economy</a:t>
            </a:r>
          </a:p>
          <a:p>
            <a:pPr>
              <a:spcAft>
                <a:spcPts val="1000"/>
              </a:spcAft>
              <a:defRPr sz="1600"/>
            </a:pPr>
            <a:r>
              <a:t>• Coastal construction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Tampa Bay?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Tampa Bay = Florida's Cement Import Gateway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6.8M MT annual imports (75% of Florida total)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Superior port infrastructure for bulk cement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Central geographic positioning for Florida distribution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Strategic Advantages: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I-75/I-4 corridor access - direct routes to entire state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1-hour delivery to 3.4M population (Tampa-St. Pete-Clearwater)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3-hour delivery to 12.8M population (includes Orlando, SW Florida)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Established cement terminal infrastructure and expertise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Market Concentration: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4.0-5.5M MT local consumption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Major ready-mix market (80+ plants)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Stucco/EIFS manufacturing hub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Infrastructure construction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Now? Market Timing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Tariff Environment Favorable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Egyptian/Turkish cement at 10% tariff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Competitors face 25-46% tariffs (Canada, Mexico, Vietnam)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$12-27/MT sustainable cost advantage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Supply-Demand Imbalance Growing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US import share: 19% (2020) → 22% (2024) → 23-25% (2025+)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Florida gap widening with population growth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No domestic capacity additions planned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White Cement Undersupplied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Only 1 US producer (Lehigh White, Texas)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Florida demand 42-55K MT/year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Import market fragmented, opportunity for consolidation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Port Redwing Infrastructure Ready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150K MT capacity operational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Timing aligns with market entry window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Competitive Advantage #1: Favorable Tariff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SESCO Sources (Egypt/Turkey)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10% tariff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Canadian Cement (competitors)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25% tariff (+$12-15/MT cost)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Mexican Cement (competitors)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25% tariff (+$12-15/MT cost)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Vietnamese 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46% tariff (+$27-36/MT cost)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Competitive Advantage #2: White Cement Specialty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Market Opportunity: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Florida consumption: 42-55K MT/year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Only 1 US producer (140K MT capacity for entire US market)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Import-dependent market with fragmented supply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Superior Economics: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Pricing: $180-280/MT (vs $79-95/MT gray cement)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2-3x price premium over gray cement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Gross margins: 45-65% (vs 15-25% gray cement)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Contributes 43% of Year 3 revenue with only 23% of volume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Florida Demand Drivers: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Hurricane codes mandate stucco/EIFS exteriors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Tourism/hospitality drives architectural demand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Pool construction (#1 US market)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Tile adhesive and grout manufacturing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Competitive Advantage #3: Port Redwing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Scale Advantages: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150,000 MT storage capacity (vs 30-60K MT typical terminals)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Enables larger inventory buffers = better service reliability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Product segregation supports gray + white cement operations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Vessel frequency optimization reduces freight costs $3-6/MT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Geographic Positioning: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I-75/I-4 intersection - direct highway access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1-hour radius: 3.4M population (Tampa Bay core)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3-hour radius: 12.8M population (Orlando, SW Florida)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5-hour radius: 22.5M population (statewide + SE corridor)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Operational Efficiency: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Modern pneumatic unloading systems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Multiple truck loading positions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Efficient turnaround times = lower customer costs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MARKET ANALYSIS</a:t>
            </a:r>
          </a:p>
          <a:p>
            <a:r>
              <a:t>Understanding the Competitive Landscape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US Cement Market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Market Size &amp; Structure: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110M MT annual consumption ($17 billion wholesale)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99 plants across 34 states + Puerto Rico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Capacity utilization: 72% (86M MT produced vs 120M MT capacity)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Growing Import Dependency: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Import share: 19% (2020) → 22% (2024)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Driven by no new domestic capacity (environmental, capital costs)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Regional imbalances (some markets oversupplied, others constrained)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Key Import Sources: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Turkey: 7.16M MT (10% tariff)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Canada: 4.85M MT (25% tariff)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Vietnam: 4.17M MT (46% tariff)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Greece: 1.82M MT (10% tariff)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Mexico: 1.32M MT (25% tariff)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Florida Cement Market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Annual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14 million MT (#2 US state, behind Texas)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Domestic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7.5M MT actual (10.4M MT capacity)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Required Imports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6.5M MT annually (46% of demand)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Tampa Bay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6.8M MT imports (75% of Florida total)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79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1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7 Florida Plants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5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Argos (2 plants), CEMEX (2), Ash Grove (2), Titan (1)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Tampa Bay 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Market Leader: Argos USA (26% share, ~1.4M MT)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Integrated producer with Tampa Port plant (1.9M MT capacity)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Vertical integration with ready-mix network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Strategy: Production optimization + selective imports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Major Importer: Martin Marietta (25% share, ~1.35M MT)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Pure importer, no production assets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Leverages aggregates business for materials bundling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Caribbean and Mediterranean sources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Hybrid Model: CEMEX (21% share, ~1.1M MT)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Mexican multinational with Florida plants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Supplements production with Mexican imports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Faces 25% tariff disadvantage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Others: Titan (11%), Ash Grove (7%), Smaller players (10%)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White Cement 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74903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Customer Segments:</a:t>
            </a:r>
          </a:p>
          <a:p>
            <a:pPr>
              <a:spcAft>
                <a:spcPts val="1000"/>
              </a:spcAft>
              <a:defRPr sz="1600"/>
            </a:pPr>
            <a:r>
              <a:t>• Stucco/EIFS (60-65% of FL demand)</a:t>
            </a:r>
          </a:p>
          <a:p>
            <a:pPr>
              <a:spcAft>
                <a:spcPts val="1000"/>
              </a:spcAft>
              <a:defRPr sz="1600"/>
            </a:pPr>
            <a:r>
              <a:t>  - BASF, Dryvit, Sto, Parex</a:t>
            </a:r>
          </a:p>
          <a:p>
            <a:pPr>
              <a:spcAft>
                <a:spcPts val="1000"/>
              </a:spcAft>
              <a:defRPr sz="1600"/>
            </a:pPr>
            <a:r>
              <a:t>  - 28-35K MT/year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• Tile Adhesive/Grout (18-20%)</a:t>
            </a:r>
          </a:p>
          <a:p>
            <a:pPr>
              <a:spcAft>
                <a:spcPts val="1000"/>
              </a:spcAft>
              <a:defRPr sz="1600"/>
            </a:pPr>
            <a:r>
              <a:t>  - Mapei, Laticrete, Custom</a:t>
            </a:r>
          </a:p>
          <a:p>
            <a:pPr>
              <a:spcAft>
                <a:spcPts val="1000"/>
              </a:spcAft>
              <a:defRPr sz="1600"/>
            </a:pPr>
            <a:r>
              <a:t>  - 8-11K MT/year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• Architectural/Pool (15-18%)</a:t>
            </a:r>
          </a:p>
          <a:p>
            <a:pPr>
              <a:spcAft>
                <a:spcPts val="1000"/>
              </a:spcAft>
              <a:defRPr sz="1600"/>
            </a:pPr>
            <a:r>
              <a:t>  - Precast, pool plaster</a:t>
            </a:r>
          </a:p>
          <a:p>
            <a:pPr>
              <a:spcAft>
                <a:spcPts val="1000"/>
              </a:spcAft>
              <a:defRPr sz="1600"/>
            </a:pPr>
            <a:r>
              <a:t>  - 6.5-9K MT/year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74903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SESCO Positioning:</a:t>
            </a:r>
          </a:p>
          <a:p>
            <a:pPr>
              <a:spcAft>
                <a:spcPts val="1000"/>
              </a:spcAft>
              <a:defRPr sz="1600"/>
            </a:pPr>
            <a:r>
              <a:t>• Target 50-65% FL market share</a:t>
            </a:r>
          </a:p>
          <a:p>
            <a:pPr>
              <a:spcAft>
                <a:spcPts val="1000"/>
              </a:spcAft>
              <a:defRPr sz="1600"/>
            </a:pPr>
            <a:r>
              <a:t>• Focus on stucco/EIFS (highest volume)</a:t>
            </a:r>
          </a:p>
          <a:p>
            <a:pPr>
              <a:spcAft>
                <a:spcPts val="1000"/>
              </a:spcAft>
              <a:defRPr sz="1600"/>
            </a:pPr>
            <a:r>
              <a:t>• Egyptian/Turkish sources</a:t>
            </a:r>
          </a:p>
          <a:p>
            <a:pPr>
              <a:spcAft>
                <a:spcPts val="1000"/>
              </a:spcAft>
              <a:defRPr sz="1600"/>
            </a:pPr>
            <a:r>
              <a:t>• Quality consistency emphasis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Year 3 Targets:</a:t>
            </a:r>
          </a:p>
          <a:p>
            <a:pPr>
              <a:spcAft>
                <a:spcPts val="1000"/>
              </a:spcAft>
              <a:defRPr sz="1600"/>
            </a:pPr>
            <a:r>
              <a:t>• 40-50K MT volume</a:t>
            </a:r>
          </a:p>
          <a:p>
            <a:pPr>
              <a:spcAft>
                <a:spcPts val="1000"/>
              </a:spcAft>
              <a:defRPr sz="1600"/>
            </a:pPr>
            <a:r>
              <a:t>• $10.1M revenue</a:t>
            </a:r>
          </a:p>
          <a:p>
            <a:pPr>
              <a:spcAft>
                <a:spcPts val="1000"/>
              </a:spcAft>
              <a:defRPr sz="1600"/>
            </a:pPr>
            <a:r>
              <a:t>• 55-60% gross margins</a:t>
            </a:r>
          </a:p>
          <a:p>
            <a:pPr>
              <a:spcAft>
                <a:spcPts val="1000"/>
              </a:spcAft>
              <a:defRPr sz="1600"/>
            </a:pPr>
            <a:r>
              <a:t>• 15-20% Florida market share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GO-TO-MARKET STRATEGY</a:t>
            </a:r>
          </a:p>
          <a:p>
            <a:r>
              <a:t>How We Win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Customer Segmentation &amp; Targeting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Tier 1-A: White Cement - Stucco/EIFS Manufacturers (PRIORITY)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Volume: 2,000-8,000 MT per account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Margins: 50-65% gross margin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Year 1 Target: 3-5 accounts, 5-10K MT total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Tier 1-B: Independent Ready-Mix Producers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Volume: 5,000-50,000 MT per producer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Margins: 20-30% gross margin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Year 1 Target: 15-20 accounts, 20-40K MT total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Tier 2: Concrete Products Manufacturers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Precast, CMU block, pipe, pavers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Volume: 2,000-15,000 MT per facility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Year 2+ development focus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3-Year 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1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40,000 MT (33K gray + 7K white)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1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$4.6 million | EBITDA: ($2.1M) investment 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2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104,000 MT (85K gray + 19K white)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2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$11.9 million | EBITDA: ($2.0M) growth 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79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1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3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5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196,000 MT (150K gray + 46K white)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675119"/>
            <a:ext cx="7315200" cy="8229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76655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366"/>
                </a:solidFill>
              </a:defRPr>
            </a:pPr>
            <a:r>
              <a:t>Year 3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08659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$23.8 million | EBITDA: Breakeven → profitability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Pre-Launch (Months -6 to 0):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Port Redwing operational commissioning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Supplier agreements finalized (Egypt/Turkey)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Sales team recruited (4-6 people)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Initial inventory vessel (30-40K MT)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Year 1 - Market Establishment: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Focus: Tampa Bay 1-hour radius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White cement: 3-5 accounts, relationship building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Gray cement: 15-20 ready-mix producers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Goal: Operational credibility, reference accounts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Year 2 - Geographic Expansion: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Expand to Orlando, SW Florida (3-hour radius)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White cement: Convert trials to production volumes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Gray cement: 30-40 total accounts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Sales team expansion (2-3 additional)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Year 3 - Market Position Consolidation: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3-5% Tampa Bay market share achieved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50-60 active accounts, mature relationships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EBITDA breakeven, platform for Years 4+ profit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Top 5 Risks &amp; Mitigation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Port Redwing Operational Reliability → Equipment redundancy, experienced team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Competitive Price Response → Target independents, white cement focus, value over price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Supply Chain Disruption → Multiple suppliers (Egypt + Turkey), 60-90 day inventory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Market Demand Downturn → Geographic/product diversification, adequate capitalization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Tariff Policy Changes → Diversified sourcing, pass-through clauses, still competitive at 20%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Strategic Recommendation: PROCEED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Market Opportunity is Substantial &amp; Durable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6.5M MT structural supply gap in Florida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Tampa Bay as 75% of import gateway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2-3% annual demand growth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Competitive Position is Favorable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$12-27/MT tariff advantage vs competitors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White cement specialty (45-65% margins)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Port Redwing infrastructure scale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Financial Returns Justify Investment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$8-10M cumulative investment through Year 3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Breakeven Year 3, profitable Years 4+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White cement drives margin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Risks are Material but Manageable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Comprehensive mitigation strategies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Adequate capitalization planned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Immediate Next Steps (90 Days)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Priority 1: Board Approval &amp; Capitalization (30 days)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Board resolution approving market entry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Commit $12-15M total capital (infrastructure + working capital + losses)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Establish governance framework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Priority 2: Port Redwing Operational Readiness (60 days)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Complete terminal commissioning and testing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Confirm all permits and regulatory compliance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Schedule first vessel arrival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Priority 3: Supplier Agreements (90 days)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Execute Egyptian/Turkish supply contracts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Finalize freight agreements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Confirm initial 30-40K MT inventory vessel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Priority 4: Sales Leadership Recruitment (60-90 days)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Hire VP Sales/Director with cement industry experience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Begin customer relationship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Build sales team and support infrastructure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APPENDIX</a:t>
            </a:r>
          </a:p>
          <a:p>
            <a:r>
              <a:t>Supporting Data &amp; Details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Appendix: Florida Cement Plants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Pennusco (Titan America) - Miami - 2.1M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Tampa Port (Argos USA) - Tampa - 1.9M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Newberry (Argos USA) - Newberry - 1.6M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Brooksville South (CEMEX) - Brooksville - 1.5M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Sumterville (Ash Grove/CRH) - Sumterville - 1.2M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Miami (CEMEX) - Miami - 1.1M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Branford (Ash Grove/CRH) - Branford - 1.0M MT/yr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TOTAL: 10.4 million MT/year nameplate capacity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Actual production: ~7.5 million MT/year (72% utilization)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