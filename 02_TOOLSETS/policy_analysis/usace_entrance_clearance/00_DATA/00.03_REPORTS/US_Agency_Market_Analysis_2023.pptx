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371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1A1A1A"/>
                </a:solidFill>
              </a:defRPr>
            </a:pPr>
            <a:r>
              <a:t>US Agency Market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6666"/>
                </a:solidFill>
              </a:defRPr>
            </a:pPr>
            <a:r>
              <a:t>2023 Market Overview by Region, Port &amp; Vessel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98DB"/>
                </a:solidFill>
              </a:defRPr>
            </a:pPr>
            <a:r>
              <a:t>Total Market: $167.7M | 49,726 Port Calls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1A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Market Overview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Total US Agency Market: $167.7M in annual revenue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49,726 port calls across all US ports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Average fee per call: $3,373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Regional Concentration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Gulf Coast dominates: 47.8% of total market revenue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Houston is the mega-market: $24.7M (17.6% of US total)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Top 5 ports = 46.9% of market | Top 10 ports = 72.0% of market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Vessel Class Insights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Bulk Carriers: 38.2% of revenue ($64.0M) with $9,000 avg fee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Tankers (Oil/Crude): 25.4% of revenue ($42.5M) with $4,500 avg fee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Container Ships: High volume (28% of calls) but low revenue (5.4%) at $650/call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Strategic Implications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Market highly concentrated in Gulf Coast energy/bulk trade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Texas triangle (Houston + South Texas) = 31.4% of entire US market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Container shipping represents volume opportunity with lower margins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Regional_Market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79286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Geographic_Marke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79425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Regional_Geographic_Zoo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100461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Revenue_Densit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6731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Top_Ports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79186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1A"/>
                </a:solidFill>
              </a:defRPr>
            </a:pPr>
            <a:r>
              <a:t>Key Takeaways &amp; Strategic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400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Geographic Concentration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Gulf Coast = 48% of US market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Houston mega-market dominates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Texas corridor (Houston to Brownsville)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  controls 31% of total revenue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Market Structure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Highly concentrated: Top 10 ports = 72%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Energy &amp; bulk commodities drive revenue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Container = high volume, low margin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Tankers/bulk = lower volume, high margin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Regional Champions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North Texas: Houston ($24.7M)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South Atlantic: South Florida ($12.6M)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Gulf East: New Orleans ($8.6M)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Mid-Atlantic: New York ($9.2M)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California: LA-Long Beach ($7.3M)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0"/>
            <a:ext cx="6400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Vessel Class Opportunities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Bulk Carriers: Highest revenue/call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  ($9,000 avg) - 38% of market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Tankers: Strong margin ($4,500 avg)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  Oil/Chemical = 39% combined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Gas Carriers: Premium segment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  LNG/LPG = 8.2% of market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Container: Volume play ($650 avg)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  but 28% of all port calls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Market Entry Strategy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Focus on Gulf Coast for bulk/energy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East Coast for container volume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Regional approach vs. national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Partner with established ports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Specialize by vessel class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Growth Potential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Container volume growing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Energy export expansion (LNG)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Chemical tanker demand increasing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• Regional consolidation trends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